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 total, then 5 for questions. Names and course code on this slide before you present. Have both boards powered and the dashboard already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before the solution. The point is that a sensor with no network connection of its own still gets its data to the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the boards up here. Physically separate them so the audience sees there is no wire. Say the scope claim now, not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Two protocols doing two different jobs: ESP-NOW has no IP stack at all, MQTT is TCP to the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best thing you have to explain and it is worth dwelling on. The channel is discovered, not chosen. It dictates the whole upload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bytes against a 250-byte limit. Point out ttl and hop_count are carried but never decremented - that is the mesh-ready part, and it is honest to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boot_id is the part worth explaining. Without it a node restart is indistinguishable from a replay and the node never comes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Security is 25 marks with the other domains. Lead with the attack you found yourselves - that reads far better than a list of things you did 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from evidence/01_gateway_running_state.txt. invalid=0 across 634 packets is the one to point at - it proves both boards agree on the packet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shot. Two physically separate sensors, one of which has no network connection, arriving as a single cloud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LIVE. Three windows: both serials and the dashboard. Warm the sensor with your thumb - about 7 degrees in 15 seconds, and it relaxes back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 the substitution rather than hiding it. The gain is real: indoor pressure would be a flat line for hours, humidity responds to a hand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these yourself. Being asked about a limitation you did not mention is worse than raising it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yours - measured, not read in a datasheet. Worth saying that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Short. Shows you know what production would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 here and take questions. Rehearsed answers are in DEMO_PLAN.md - especially the security one, which is the likeliest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B6B62"/>
                </a:solidFill>
                <a:latin typeface="Calibri"/>
              </a:defRPr>
            </a:pPr>
            <a:r>
              <a:t>IA736001 INTERNET OF THINGS AND CLOUD COMPUTING</a:t>
            </a:r>
          </a:p>
          <a:p>
            <a:pPr>
              <a:spcAft>
                <a:spcPts val="400"/>
              </a:spcAft>
              <a:defRPr sz="4000" b="1">
                <a:solidFill>
                  <a:srgbClr val="1A1A1A"/>
                </a:solidFill>
                <a:latin typeface="Calibri"/>
              </a:defRPr>
            </a:pPr>
            <a:r>
              <a:t>Two-Node ESP-NOW Sensor Network</a:t>
            </a:r>
          </a:p>
          <a:p>
            <a:pPr>
              <a:spcAft>
                <a:spcPts val="2200"/>
              </a:spcAft>
              <a:defRPr sz="4000" b="1">
                <a:solidFill>
                  <a:srgbClr val="606060"/>
                </a:solidFill>
                <a:latin typeface="Calibri"/>
              </a:defRPr>
            </a:pPr>
            <a:r>
              <a:t>with a ThingsBoard Cloud Gateway</a:t>
            </a:r>
          </a:p>
          <a:p>
            <a:pPr>
              <a:spcAft>
                <a:spcPts val="2600"/>
              </a:spcAft>
              <a:defRPr sz="1700" b="0">
                <a:solidFill>
                  <a:srgbClr val="606060"/>
                </a:solidFill>
                <a:latin typeface="Calibri"/>
              </a:defRPr>
            </a:pPr>
            <a:r>
              <a:t>A mesh-ready packet design demonstrated over a single hop</a:t>
            </a:r>
          </a:p>
          <a:p>
            <a:pPr>
              <a:spcAft>
                <a:spcPts val="800"/>
              </a:spcAft>
              <a:defRPr sz="1500" b="0">
                <a:solidFill>
                  <a:srgbClr val="606060"/>
                </a:solidFill>
                <a:latin typeface="Calibri"/>
              </a:defRPr>
            </a:pPr>
            <a:r>
              <a:t>[ Your names ]     |     [ Date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WHY THIS EXISTS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0"/>
              </a:spcAft>
              <a:defRPr sz="2200" b="0">
                <a:solidFill>
                  <a:srgbClr val="1A1A1A"/>
                </a:solidFill>
                <a:latin typeface="Calibri"/>
              </a:defRPr>
            </a:pPr>
            <a:r>
              <a:t>A sensor is somewhere without Wi-Fi coverage, mains power, or both.</a:t>
            </a:r>
          </a:p>
          <a:p>
            <a:pPr>
              <a:spcAft>
                <a:spcPts val="14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-   Wi-Fi association costs seconds and milliamps before a single byte moves</a:t>
            </a:r>
          </a:p>
          <a:p>
            <a:pPr>
              <a:spcAft>
                <a:spcPts val="14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-   Every node needing its own AP credentials does not scale</a:t>
            </a:r>
          </a:p>
          <a:p>
            <a:pPr>
              <a:spcAft>
                <a:spcPts val="14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-   One device with connectivity should be able to carry data for several without</a:t>
            </a:r>
          </a:p>
          <a:p>
            <a:pPr>
              <a:spcAft>
                <a:spcPts val="0"/>
              </a:spcAft>
              <a:defRPr sz="2200" b="1">
                <a:solidFill>
                  <a:srgbClr val="0B6B62"/>
                </a:solidFill>
                <a:latin typeface="Calibri"/>
              </a:defRPr>
            </a:pPr>
            <a:r>
              <a:t>So: cheap radio between the nodes, one gateway that owns the cloud link.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SCOPE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64008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0B6B62"/>
                </a:solidFill>
                <a:latin typeface="Calibri"/>
              </a:defRPr>
            </a:pPr>
            <a:r>
              <a:t>Board 1  -  Remote node</a:t>
            </a:r>
          </a:p>
          <a:p>
            <a:pPr>
              <a:spcAft>
                <a:spcPts val="1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DHT11 on GPIO4. Reads and transmits every 5 s over ESP-NOW. Never joins the access point.</a:t>
            </a:r>
          </a:p>
          <a:p>
            <a:pPr>
              <a:spcAft>
                <a:spcPts val="600"/>
              </a:spcAft>
              <a:defRPr sz="2000" b="1">
                <a:solidFill>
                  <a:srgbClr val="0B6B62"/>
                </a:solidFill>
                <a:latin typeface="Calibri"/>
              </a:defRPr>
            </a:pPr>
            <a:r>
              <a:t>Board 2  -  Gateway</a:t>
            </a:r>
          </a:p>
          <a:p>
            <a:pPr>
              <a:spcAft>
                <a:spcPts val="20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DHT11 on GPIO5. Joins eduroam, receives and deduplicates Board 1's packets, merges both readings, publishes to ThingsBoard over MQTT every 10 s.</a:t>
            </a:r>
          </a:p>
          <a:p>
            <a:pPr>
              <a:spcAft>
                <a:spcPts val="1600"/>
              </a:spcAft>
              <a:defRPr sz="1800" b="1">
                <a:solidFill>
                  <a:srgbClr val="1A1A1A"/>
                </a:solidFill>
                <a:latin typeface="Calibri"/>
              </a:defRPr>
            </a:pPr>
            <a:r>
              <a:t>No wire between the two boards. The only link is a 2.4 GHz radio.</a:t>
            </a:r>
          </a:p>
          <a:p>
            <a:pPr>
              <a:spcAft>
                <a:spcPts val="0"/>
              </a:spcAft>
              <a:defRPr sz="1500" b="0">
                <a:solidFill>
                  <a:srgbClr val="A83A1F"/>
                </a:solidFill>
                <a:latin typeface="Calibri"/>
              </a:defRPr>
            </a:pPr>
            <a:r>
              <a:t>Two-node prototype with a mesh-ready packet design - not a demonstrated multi-hop mesh. Two radios can only ever be one hop.</a:t>
            </a:r>
          </a:p>
        </p:txBody>
      </p:sp>
      <p:pic>
        <p:nvPicPr>
          <p:cNvPr id="5" name="Picture 4" descr="photo_01_both_boards_no_wir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783080"/>
            <a:ext cx="4023360" cy="53649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NETWORKING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115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 b="1">
                <a:solidFill>
                  <a:srgbClr val="606060"/>
                </a:solidFill>
                <a:latin typeface="Calibri"/>
              </a:defRPr>
            </a:pPr>
            <a:r>
              <a:t>Board 1                          Board 2                        Cloud</a:t>
            </a:r>
          </a:p>
          <a:p>
            <a:pPr>
              <a:spcAft>
                <a:spcPts val="2600"/>
              </a:spcAft>
              <a:defRPr sz="1900" b="1">
                <a:solidFill>
                  <a:srgbClr val="1A1A1A"/>
                </a:solidFill>
                <a:latin typeface="Calibri"/>
              </a:defRPr>
            </a:pPr>
            <a:r>
              <a:t>DHT11  -&gt;  ESP-NOW unicast  -&gt;  validate  -&gt;  dedup  -&gt;  merge  -&gt;  MQTT  -&gt;  ThingsBoard</a:t>
            </a:r>
          </a:p>
          <a:p>
            <a:pPr>
              <a:spcAft>
                <a:spcPts val="1200"/>
              </a:spcAft>
              <a:defRPr sz="1500" b="0">
                <a:solidFill>
                  <a:srgbClr val="1A1A1A"/>
                </a:solidFill>
                <a:latin typeface="Consolas"/>
              </a:defRPr>
            </a:pPr>
            <a:r>
              <a:t>ESP-NOW        connectionless, no IP stack, link-layer acknowledged, 26-byte payload</a:t>
            </a:r>
          </a:p>
          <a:p>
            <a:pPr>
              <a:spcAft>
                <a:spcPts val="1200"/>
              </a:spcAft>
              <a:defRPr sz="1500" b="0">
                <a:solidFill>
                  <a:srgbClr val="1A1A1A"/>
                </a:solidFill>
                <a:latin typeface="Consolas"/>
              </a:defRPr>
            </a:pPr>
            <a:r>
              <a:t>MQTT           TCP, port 1883, topic v1/devices/me/telemetry, token authentication</a:t>
            </a:r>
          </a:p>
          <a:p>
            <a:pPr>
              <a:spcAft>
                <a:spcPts val="1200"/>
              </a:spcAft>
              <a:defRPr sz="1500" b="0">
                <a:solidFill>
                  <a:srgbClr val="1A1A1A"/>
                </a:solidFill>
                <a:latin typeface="Consolas"/>
              </a:defRPr>
            </a:pPr>
            <a:r>
              <a:t>Aggregation    both readings merged at the edge, before data leaves the network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THE GOVERNING CONSTRAINT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One radio, one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 b="0">
                <a:solidFill>
                  <a:srgbClr val="1A1A1A"/>
                </a:solidFill>
                <a:latin typeface="Calibri"/>
              </a:defRPr>
            </a:pPr>
            <a:r>
              <a:t>An ESP32 has a single radio, so it is on exactly one channel at a time.</a:t>
            </a:r>
          </a:p>
          <a:p>
            <a:pPr>
              <a:spcAft>
                <a:spcPts val="20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The gateway must join Wi-Fi for the cloud - and the access point decides which channel that is.</a:t>
            </a:r>
          </a:p>
          <a:p>
            <a:pPr>
              <a:spcAft>
                <a:spcPts val="2400"/>
              </a:spcAft>
              <a:defRPr sz="2100" b="1">
                <a:solidFill>
                  <a:srgbClr val="0B6B62"/>
                </a:solidFill>
                <a:latin typeface="Calibri"/>
              </a:defRPr>
            </a:pPr>
            <a:r>
              <a:t>So the channel is discovered at runtime, never chosen at design time.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The node is pinned to that channel by hand, and reads it back to confirm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The node never associates - association would let the two boards drift apart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Gateway must be flashed and running before the node can even be configured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26 BYTES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Packet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version, msg_type      protocol evolution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src_id, dst_id         addressing, not broadcast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boot_id                random per power-up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seq                    ordering within a session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ttl, hop_count         carried, never decremented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temperature, humidity  the payload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uptime_ms              sender liveness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Why no checksum?</a:t>
            </a:r>
          </a:p>
          <a:p>
            <a:pPr>
              <a:spcAft>
                <a:spcPts val="20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802.11 already CRC-checks every delivered frame. A checksum would duplicate hardware work - and would not authenticate anything.</a:t>
            </a:r>
          </a:p>
          <a:p>
            <a:pPr>
              <a:spcAft>
                <a:spcPts val="8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static_assert(sizeof == 26)</a:t>
            </a:r>
          </a:p>
          <a:p>
            <a:pPr>
              <a:spcAft>
                <a:spcPts val="800"/>
              </a:spcAft>
              <a:defRPr sz="1500" b="0">
                <a:solidFill>
                  <a:srgbClr val="606060"/>
                </a:solidFill>
                <a:latin typeface="Calibri"/>
              </a:defRPr>
            </a:pPr>
            <a:r>
              <a:t>Pins the size in both sketches. It constrains layout but does not prove field agreement - fields could be reordered and still pass.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SOFTWARE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Deduplication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200" b="1">
                <a:solidFill>
                  <a:srgbClr val="0B6B62"/>
                </a:solidFill>
                <a:latin typeface="Calibri"/>
              </a:defRPr>
            </a:pPr>
            <a:r>
              <a:t>Key:   (src_id, boot_id, seq)</a:t>
            </a:r>
          </a:p>
          <a:p>
            <a:pPr>
              <a:spcAft>
                <a:spcPts val="18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Strict last-sequence-wins. Anything not newer than the highest already accepted in this session is a duplicate.</a:t>
            </a:r>
          </a:p>
          <a:p>
            <a:pPr>
              <a:spcAft>
                <a:spcPts val="1000"/>
              </a:spcAft>
              <a:defRPr sz="1900" b="1">
                <a:solidFill>
                  <a:srgbClr val="1A1A1A"/>
                </a:solidFill>
                <a:latin typeface="Calibri"/>
              </a:defRPr>
            </a:pPr>
            <a:r>
              <a:t>boot_id is randomised every power-up.</a:t>
            </a:r>
          </a:p>
          <a:p>
            <a:pPr>
              <a:spcAft>
                <a:spcPts val="1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Without it, a node restart looks identical to a replay: every packet arrives with a sequence below the stored baseline and is rejected forever. The node never comes back.</a:t>
            </a:r>
          </a:p>
          <a:p>
            <a:pPr>
              <a:spcAft>
                <a:spcPts val="0"/>
              </a:spcAft>
              <a:defRPr sz="1700" b="0">
                <a:solidFill>
                  <a:srgbClr val="606060"/>
                </a:solidFill>
                <a:latin typeface="Calibri"/>
              </a:defRPr>
            </a:pPr>
            <a:r>
              <a:t>A forward jump is a gap, not a duplicate - those packets were lost, not repeated. A receiver demanding contiguous sequences would deadlock on the first loss.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THREAT MODEL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760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Defended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Length, version, type, addressing, range validation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Replay rejection via sequence numbers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Sender MAC filtering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Credentials excluded from version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50292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A83A1F"/>
                </a:solidFill>
                <a:latin typeface="Calibri"/>
              </a:defRPr>
            </a:pPr>
            <a:r>
              <a:t>Not defended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ESP-NOW payloads unencrypted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No cryptographic sender authentication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MQTT without TLS - token in clear text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RADIUS certificate not validated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Credentials readable from flash over USB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A83A1F"/>
                </a:solidFill>
                <a:latin typeface="Calibri"/>
              </a:defRPr>
            </a:pPr>
            <a:r>
              <a:t>The interesting finding</a:t>
            </a:r>
          </a:p>
          <a:p>
            <a:pPr>
              <a:spcAft>
                <a:spcPts val="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src_id is a claim, not proof. A forged packet with a high sequence number under the live boot_id advances the dedup baseline - after which every genuine packet is rejected until the node reboots. Replay protection becomes the attack surface.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MEASURED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115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634        packets received and validated</a:t>
            </a:r>
          </a:p>
          <a:p>
            <a:pPr>
              <a:spcAft>
                <a:spcPts val="16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82        duplicates rejected</a:t>
            </a:r>
          </a:p>
          <a:p>
            <a:pPr>
              <a:spcAft>
                <a:spcPts val="16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0        invalid packets - both boards agree on the 26-byte layout</a:t>
            </a:r>
          </a:p>
          <a:p>
            <a:pPr>
              <a:spcAft>
                <a:spcPts val="16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11 / 11        acceptance criteria evidenced</a:t>
            </a:r>
          </a:p>
          <a:p>
            <a:pPr>
              <a:spcAft>
                <a:spcPts val="0"/>
              </a:spcAft>
              <a:defRPr sz="1600" b="0">
                <a:solidFill>
                  <a:srgbClr val="606060"/>
                </a:solidFill>
                <a:latin typeface="Calibri"/>
              </a:defRPr>
            </a:pPr>
            <a:r>
              <a:t>Node offline detection latches at 20 s; last known value keeps publishing while node1_online carries the truth about freshness.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CLOUD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Edge aggregation, visualised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shboard_01_temperature_both_boar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783080"/>
            <a:ext cx="9235440" cy="60711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606060"/>
                </a:solidFill>
                <a:latin typeface="Calibri"/>
              </a:defRPr>
            </a:pPr>
            <a:r>
              <a:t>Blue: gateway local sensor.    Green: remote node, via ESP-NOW.    Stepped traces are DHT11 quantisation, not a frozen sensor.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SWITCH TO HARDWARE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Live demonstration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1.   Board 1 serial:  no Wi-Fi association, and a real link-layer ack</a:t>
            </a:r>
          </a:p>
          <a:p>
            <a:pPr>
              <a:spcAft>
                <a:spcPts val="16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2.   Board 2 serial:  the same packet arriving, validated, deduplicated</a:t>
            </a:r>
          </a:p>
          <a:p>
            <a:pPr>
              <a:spcAft>
                <a:spcPts val="16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3.   ThingsBoard:  the same numbers, in the cloud</a:t>
            </a:r>
          </a:p>
          <a:p>
            <a:pPr>
              <a:spcAft>
                <a:spcPts val="16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4.   Warm the sensor by hand and watch the chart move</a:t>
            </a:r>
          </a:p>
          <a:p>
            <a:pPr>
              <a:spcAft>
                <a:spcPts val="24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5.   Unplug Board 1:  node1_online goes false after 20 s</a:t>
            </a:r>
          </a:p>
          <a:p>
            <a:pPr>
              <a:spcAft>
                <a:spcPts val="0"/>
              </a:spcAft>
              <a:defRPr sz="1600" b="0">
                <a:solidFill>
                  <a:srgbClr val="606060"/>
                </a:solidFill>
                <a:latin typeface="Calibri"/>
              </a:defRPr>
            </a:pPr>
            <a:r>
              <a:t>Roughly 21 C to 28 C in fifteen seconds - it proves the whole chain, sensor to cloud, in one gesture.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HARDWARE SUBSTITUTION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DHT11 instead of BMP280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000" b="0">
                <a:solidFill>
                  <a:srgbClr val="1A1A1A"/>
                </a:solidFill>
                <a:latin typeface="Calibri"/>
              </a:defRPr>
            </a:pPr>
            <a:r>
              <a:t>The brief specified BMP280. The available hardware was DHT11.</a:t>
            </a:r>
          </a:p>
          <a:p>
            <a:pPr>
              <a:spcAft>
                <a:spcPts val="800"/>
              </a:spcAft>
              <a:defRPr sz="1800" b="1">
                <a:solidFill>
                  <a:srgbClr val="A83A1F"/>
                </a:solidFill>
                <a:latin typeface="Calibri"/>
              </a:defRPr>
            </a:pPr>
            <a:r>
              <a:t>Lost</a:t>
            </a:r>
          </a:p>
          <a:p>
            <a:pPr>
              <a:spcAft>
                <a:spcPts val="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No I2C experience - DHT11 is single-wire bit-banged</a:t>
            </a:r>
          </a:p>
          <a:p>
            <a:pPr>
              <a:spcAft>
                <a:spcPts val="1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Lower resolution, hence the stepped chart traces</a:t>
            </a:r>
          </a:p>
          <a:p>
            <a:pPr>
              <a:spcAft>
                <a:spcPts val="800"/>
              </a:spcAft>
              <a:defRPr sz="1800" b="1">
                <a:solidFill>
                  <a:srgbClr val="0B6B62"/>
                </a:solidFill>
                <a:latin typeface="Calibri"/>
              </a:defRPr>
            </a:pPr>
            <a:r>
              <a:t>Gained</a:t>
            </a:r>
          </a:p>
          <a:p>
            <a:pPr>
              <a:spcAft>
                <a:spcPts val="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Humidity responds to a hand in seconds; indoor pressure would be flat for hours</a:t>
            </a:r>
          </a:p>
          <a:p>
            <a:pPr>
              <a:spcAft>
                <a:spcPts val="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Everything above the sensing layer is unchanged - the packet carries two floats and does not care what they represent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HONESTLY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One hop only - two radios cannot demonstrate multi-hop forwarding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ttl and hop_count are designed for but unexercised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No encryption on either the radio or the MQTT leg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Credentials compiled into firmware, recoverable over USB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Manual channel configuration - a gateway roam silently breaks the link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Single remote node - dedup state is one slot, not an array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MEASURED, NOT ASSUMED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What we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Port 1883 is open outbound on eduroam</a:t>
            </a:r>
          </a:p>
          <a:p>
            <a:pPr>
              <a:spcAft>
                <a:spcPts val="18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Proved by the MQTT return code: state=5 is a reply from the broker, so the packets crossed the firewall. state=-2 would have meant no TCP connection at all.</a:t>
            </a:r>
          </a:p>
          <a:p>
            <a:pPr>
              <a:spcAft>
                <a:spcPts val="8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WPA2-Enterprise costs ~97 KB of flash</a:t>
            </a:r>
          </a:p>
          <a:p>
            <a:pPr>
              <a:spcAft>
                <a:spcPts val="18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915,267 bytes with PSK against 1,012,651 with PEAP. Enterprise auth is not free.</a:t>
            </a:r>
          </a:p>
          <a:p>
            <a:pPr>
              <a:spcAft>
                <a:spcPts val="8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eduroam routes by RADIUS realm, not email domain</a:t>
            </a:r>
          </a:p>
          <a:p>
            <a:pPr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user@student.&lt;institution&gt; failed; user@&lt;institution&gt; worked. The failure is silent - the same status code as a wrong password.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WHAT WOULD COME NEXT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Further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1.   A third node - actually exercise ttl and hop_count</a:t>
            </a:r>
          </a:p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2.   ESP-NOW encryption with PMK/LMK for real sender authentication</a:t>
            </a:r>
          </a:p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3.   MQTT over TLS on port 8883</a:t>
            </a:r>
          </a:p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4.   Credentials provisioned into NVS at first boot, not compiled in</a:t>
            </a:r>
          </a:p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5.   Automatic channel recovery instead of a manual re-upload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600"/>
              </a:spcAft>
              <a:defRPr sz="4400" b="1">
                <a:solidFill>
                  <a:srgbClr val="1A1A1A"/>
                </a:solidFill>
                <a:latin typeface="Calibri"/>
              </a:defRPr>
            </a:pPr>
            <a:r>
              <a:t>Questions</a:t>
            </a:r>
          </a:p>
          <a:p>
            <a:pPr algn="ctr">
              <a:spcAft>
                <a:spcPts val="1800"/>
              </a:spcAft>
              <a:defRPr sz="1900" b="0">
                <a:solidFill>
                  <a:srgbClr val="606060"/>
                </a:solidFill>
                <a:latin typeface="Calibri"/>
              </a:defRPr>
            </a:pPr>
            <a:r>
              <a:t>Two ESP32 boards.  No wire between them.  Two sensors, one cloud stream.</a:t>
            </a:r>
          </a:p>
          <a:p>
            <a:pPr algn="ctr">
              <a:spcAft>
                <a:spcPts val="0"/>
              </a:spcAft>
              <a:defRPr sz="1400" b="0">
                <a:solidFill>
                  <a:srgbClr val="606060"/>
                </a:solidFill>
                <a:latin typeface="Calibri"/>
              </a:defRPr>
            </a:pPr>
            <a:r>
              <a:t>Code, evidence and full report:  github.com/bhanuGupta1/esp32-espnow-thingsboard-gateway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