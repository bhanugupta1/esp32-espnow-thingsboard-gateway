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73" r:id="rId25"/>
    <p:sldId id="260" r:id="rId12"/>
    <p:sldId id="261" r:id="rId13"/>
    <p:sldId id="262" r:id="rId14"/>
    <p:sldId id="263" r:id="rId15"/>
    <p:sldId id="264" r:id="rId16"/>
    <p:sldId id="265" r:id="rId17"/>
    <p:sldId id="272" r:id="rId24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s. Do not read the slide.</a:t>
            </a:r>
          </a:p>
          <a:p/>
          <a:p>
            <a:r>
              <a:t>SAY: "Project one. Two ESP32 boards. One of them has no internet connection at</a:t>
            </a:r>
          </a:p>
          <a:p>
            <a:r>
              <a:t>all, and its readings still reach the cloud - because the other one carries</a:t>
            </a:r>
          </a:p>
          <a:p>
            <a:r>
              <a:t>them for it."</a:t>
            </a:r>
          </a:p>
          <a:p/>
          <a:p>
            <a:r>
              <a:t>Then move on. The title slide is not where marks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 s.</a:t>
            </a:r>
          </a:p>
          <a:p/>
          <a:p>
            <a:r>
              <a:t>SAY: "Imagine a sensor somewhere with no Wi-Fi - a basement, a field, a corner</a:t>
            </a:r>
          </a:p>
          <a:p>
            <a:r>
              <a:t>of a building. Connecting it properly is expensive. Every device needs its own</a:t>
            </a:r>
          </a:p>
          <a:p>
            <a:r>
              <a:t>network password and its own setup, and joining Wi-Fi burns battery for several</a:t>
            </a:r>
          </a:p>
          <a:p>
            <a:r>
              <a:t>seconds before a single reading is sent. So we flipped it. One device does the</a:t>
            </a:r>
          </a:p>
          <a:p>
            <a:r>
              <a:t>connecting. The others talk to it cheaply over short-range radio."</a:t>
            </a:r>
          </a:p>
          <a:p/>
          <a:p>
            <a:r>
              <a:t>IF ASKED why joining is expensive: scan every channel for beacons, authenticate</a:t>
            </a:r>
          </a:p>
          <a:p>
            <a:r>
              <a:t>against the university RADIUS server, associate, then request an IP by DHCP -</a:t>
            </a:r>
          </a:p>
          <a:p>
            <a:r>
              <a:t>all before one useful byte moves. On battery the radio is the largest draw in</a:t>
            </a:r>
          </a:p>
          <a:p>
            <a:r>
              <a:t>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s. Say the limitation FIRST, before anyone asks.</a:t>
            </a:r>
          </a:p>
          <a:p/>
          <a:p>
            <a:r>
              <a:t>SAY: "Two ESP32 boards, each with a temperature and humidity sensor. Board 1</a:t>
            </a:r>
          </a:p>
          <a:p>
            <a:r>
              <a:t>measures and sends by radio. Board 2 listens, adds its own reading, and</a:t>
            </a:r>
          </a:p>
          <a:p>
            <a:r>
              <a:t>publishes both to the cloud."</a:t>
            </a:r>
          </a:p>
          <a:p/>
          <a:p>
            <a:r>
              <a:t>THEN: "With only two boards this is one hop - one sender, one receiver. We</a:t>
            </a:r>
          </a:p>
          <a:p>
            <a:r>
              <a:t>designed the message so a third board could pass it along, but nothing is ever</a:t>
            </a:r>
          </a:p>
          <a:p>
            <a:r>
              <a:t>actually forwarded here. It is mesh-ready, not a mesh."</a:t>
            </a:r>
          </a:p>
          <a:p/>
          <a:p>
            <a:r>
              <a:t>Volunteering your own limits reads as confidence. Being caught out on them does</a:t>
            </a:r>
          </a:p>
          <a:p>
            <a:r>
              <a:t>not.</a:t>
            </a:r>
          </a:p>
          <a:p/>
          <a:p>
            <a:r>
              <a:t>BACKUP: ESP32-D0WD-V3, dual core 240 MHz, 520 KB RAM, 4 MB flash, one 2.4 GHz</a:t>
            </a:r>
          </a:p>
          <a:p>
            <a:r>
              <a:t>radio. DHT11: 0-50 C plus/minus 2, 20-90 % RH plus/minus 5, 1 Hz max sample</a:t>
            </a:r>
          </a:p>
          <a:p>
            <a:r>
              <a:t>rate. Substituted for the BMP280 in the brief - documented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minute. This is your strongest slide. Point at the middle column first.</a:t>
            </a:r>
          </a:p>
          <a:p/>
          <a:p>
            <a:r>
              <a:t>SAY: "Three stages - the sensor, the middleman, the cloud. The one in the middle</a:t>
            </a:r>
          </a:p>
          <a:p>
            <a:r>
              <a:t>is on both networks at the same time: the radio network and the Wi-Fi. That is</a:t>
            </a:r>
          </a:p>
          <a:p>
            <a:r>
              <a:t>the whole trick. It holds both sets of keys, so Board 1 reaches the internet</a:t>
            </a:r>
          </a:p>
          <a:p>
            <a:r>
              <a:t>without ever joining it."</a:t>
            </a:r>
          </a:p>
          <a:p/>
          <a:p>
            <a:r>
              <a:t>THEN WALK THE THREE ARROWS:</a:t>
            </a:r>
          </a:p>
          <a:p>
            <a:r>
              <a:t>  Orange  - the radio between the boards. Dashed, because there is no wire.</a:t>
            </a:r>
          </a:p>
          <a:p>
            <a:r>
              <a:t>  Green   - data going up to the cloud.</a:t>
            </a:r>
          </a:p>
          <a:p>
            <a:r>
              <a:t>  Purple  - instructions coming back down.</a:t>
            </a:r>
          </a:p>
          <a:p/>
          <a:p>
            <a:r>
              <a:t>THE LINE WORTH MEMORISING:</a:t>
            </a:r>
          </a:p>
          <a:p>
            <a:r>
              <a:t>  "Green means we can watch it. Purple means we can control it."</a:t>
            </a:r>
          </a:p>
          <a:p/>
          <a:p>
            <a:r>
              <a:t>WHY THREE COLUMNS: the diagram is drawn as columns so the single crossing point</a:t>
            </a:r>
          </a:p>
          <a:p>
            <a:r>
              <a:t>is obvious. That crossing point is the entire argument of the project.</a:t>
            </a:r>
          </a:p>
          <a:p/>
          <a:p>
            <a:r>
              <a:t>THE THEORY UNDERNEATH: networks are built in layers. ESP-NOW works at the link</a:t>
            </a:r>
          </a:p>
          <a:p>
            <a:r>
              <a:t>layer - no IP address, no routing, no concept of "somewhere else". It can only</a:t>
            </a:r>
          </a:p>
          <a:p>
            <a:r>
              <a:t>reach a radio it can physically hear. MQTT works at the application layer, on</a:t>
            </a:r>
          </a:p>
          <a:p>
            <a:r>
              <a:t>top of TCP and IP. Because the two protocols sit at different layers, one device</a:t>
            </a:r>
          </a:p>
          <a:p>
            <a:r>
              <a:t>can bridge them. A bridge between layers is what the word "gateway" means.</a:t>
            </a:r>
          </a:p>
          <a:p/>
          <a:p>
            <a:r>
              <a:t>IF ASKED why two arrows for MQTT: because that is the difference between a</a:t>
            </a:r>
          </a:p>
          <a:p>
            <a:r>
              <a:t>device you can watch and a device you can operate. One connection, two</a:t>
            </a:r>
          </a:p>
          <a:p>
            <a:r>
              <a:t>directions.</a:t>
            </a:r>
          </a:p>
          <a:p/>
          <a:p>
            <a:r>
              <a:t>FOOTNOTES ON THE SLIDE protect you: the access point chooses the channel, and</a:t>
            </a:r>
          </a:p>
          <a:p>
            <a:r>
              <a:t>ttl and hop_count exist but nothing is ever forwarded.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s. This slide shows engineering judgement rather than coding.</a:t>
            </a:r>
          </a:p>
          <a:p/>
          <a:p>
            <a:r>
              <a:t>SAY: "A radio can only listen on one channel at a time. Board 2 has to join the</a:t>
            </a:r>
          </a:p>
          <a:p>
            <a:r>
              <a:t>campus Wi-Fi to reach the cloud, and the Wi-Fi network decides which channel</a:t>
            </a:r>
          </a:p>
          <a:p>
            <a:r>
              <a:t>that is. We do not get to pick it - we find out at runtime and tell Board 1 to</a:t>
            </a:r>
          </a:p>
          <a:p>
            <a:r>
              <a:t>match. That decides the whole setup order: you cannot configure Board 1 until</a:t>
            </a:r>
          </a:p>
          <a:p>
            <a:r>
              <a:t>Board 2 tells you where it landed."</a:t>
            </a:r>
          </a:p>
          <a:p/>
          <a:p>
            <a:r>
              <a:t>THEN THE HONEST PART: "It also means that if the Wi-Fi moves us to a different</a:t>
            </a:r>
          </a:p>
          <a:p>
            <a:r>
              <a:t>channel, our link breaks silently. Wi-Fi and the cloud still look perfectly</a:t>
            </a:r>
          </a:p>
          <a:p>
            <a:r>
              <a:t>healthy - only the radio link is dead. It happened three times during</a:t>
            </a:r>
          </a:p>
          <a:p>
            <a:r>
              <a:t>development, so we check before every demonstration."</a:t>
            </a:r>
          </a:p>
          <a:p/>
          <a:p>
            <a:r>
              <a:t>WHY IT IS SILENT: every indicator a casual observer checks still passes. The</a:t>
            </a:r>
          </a:p>
          <a:p>
            <a:r>
              <a:t>gateway keeps publishing its own sensor. Only the node's data stops.</a:t>
            </a:r>
          </a:p>
          <a:p/>
          <a:p>
            <a:r>
              <a:t>BACKUP: eduroam runs access points on channels 1, 6 and 11. We observed the</a:t>
            </a:r>
          </a:p>
          <a:p>
            <a:r>
              <a:t>gateway on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s.</a:t>
            </a:r>
          </a:p>
          <a:p/>
          <a:p>
            <a:r>
              <a:t>SAY: "Every message is 26 bytes. It carries a version, who it is from and to, a</a:t>
            </a:r>
          </a:p>
          <a:p>
            <a:r>
              <a:t>sequence number, and the two readings. Small on purpose - the radio protocol</a:t>
            </a:r>
          </a:p>
          <a:p>
            <a:r>
              <a:t>allows 250 bytes, and we use 26."</a:t>
            </a:r>
          </a:p>
          <a:p/>
          <a:p>
            <a:r>
              <a:t>WHY VERSION AND TYPE: so the format can change later without both boards</a:t>
            </a:r>
          </a:p>
          <a:p>
            <a:r>
              <a:t>silently disagreeing about what the bytes mean.</a:t>
            </a:r>
          </a:p>
          <a:p/>
          <a:p>
            <a:r>
              <a:t>BACKUP: a compile-time assertion locks the structure at exactly 26 bytes, so the</a:t>
            </a:r>
          </a:p>
          <a:p>
            <a:r>
              <a:t>two sketches cannot drift apart without the build failing.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s. This is a genuinely subtle piece of design - take the time.</a:t>
            </a:r>
          </a:p>
          <a:p/>
          <a:p>
            <a:r>
              <a:t>SAY: "Every message is numbered so we can spot repeats. But each board also</a:t>
            </a:r>
          </a:p>
          <a:p>
            <a:r>
              <a:t>picks a random ID when it powers on, and that part is essential."</a:t>
            </a:r>
          </a:p>
          <a:p/>
          <a:p>
            <a:r>
              <a:t>THEN THE WHY: "Without it, a board restarting looks exactly like an attacker</a:t>
            </a:r>
          </a:p>
          <a:p>
            <a:r>
              <a:t>replaying old messages. The numbers start low again, we would reject every one</a:t>
            </a:r>
          </a:p>
          <a:p>
            <a:r>
              <a:t>of them, and the board would never come back - and nothing would look broken."</a:t>
            </a:r>
          </a:p>
          <a:p/>
          <a:p>
            <a:r>
              <a:t>THREE CASES the logic distinguishes:</a:t>
            </a:r>
          </a:p>
          <a:p>
            <a:r>
              <a:t>  new packet     - accept</a:t>
            </a:r>
          </a:p>
          <a:p>
            <a:r>
              <a:t>  duplicate      - reject</a:t>
            </a:r>
          </a:p>
          <a:p>
            <a:r>
              <a:t>  gap (loss)     - accept, do not wait</a:t>
            </a:r>
          </a:p>
          <a:p/>
          <a:p>
            <a:r>
              <a:t>A jump forward is a gap, not a duplicate. If we demanded consecutive numbers we</a:t>
            </a:r>
          </a:p>
          <a:p>
            <a:r>
              <a:t>would deadlock on the first lost packet, waiting forever for something that is</a:t>
            </a:r>
          </a:p>
          <a:p>
            <a:r>
              <a:t>never coming.</a:t>
            </a:r>
          </a:p>
          <a:p/>
          <a:p>
            <a:r>
              <a:t>BACKUP: key is the triple (src_id, boot_id, seq). The comparison is wrap-aware -</a:t>
            </a:r>
          </a:p>
          <a:p>
            <a:r>
              <a:t>unsigned subtraction then a signed compare - so it stays correct when a 32-bit</a:t>
            </a:r>
          </a:p>
          <a:p>
            <a:r>
              <a:t>counter overflows.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~90 seconds. Worth 25 marks. Slow down. Tell it as a story.</a:t>
            </a:r>
          </a:p>
          <a:p/>
          <a:p>
            <a:r>
              <a:t>SAY: "At first, anyone with a matching radio nearby could send us a fake</a:t>
            </a:r>
          </a:p>
          <a:p>
            <a:r>
              <a:t>reading. The message says who it is from, but that is just a claim - anyone can</a:t>
            </a:r>
          </a:p>
          <a:p>
            <a:r>
              <a:t>write anything in that field."</a:t>
            </a:r>
          </a:p>
          <a:p/>
          <a:p>
            <a:r>
              <a:t>"Our first fix was to check the sender's hardware address. Someone reviewed it</a:t>
            </a:r>
          </a:p>
          <a:p>
            <a:r>
              <a:t>and pointed out the flaw straight away: an attacker can simply set that address</a:t>
            </a:r>
          </a:p>
          <a:p>
            <a:r>
              <a:t>to whatever they like. We were checking a value the attacker controls. That is a</a:t>
            </a:r>
          </a:p>
          <a:p>
            <a:r>
              <a:t>name badge, not a passport."</a:t>
            </a:r>
          </a:p>
          <a:p/>
          <a:p>
            <a:r>
              <a:t>"So we encrypted the link instead. Both boards share a key. Now a message only</a:t>
            </a:r>
          </a:p>
          <a:p>
            <a:r>
              <a:t>works if the sender actually has that key. That is the difference between</a:t>
            </a:r>
          </a:p>
          <a:p>
            <a:r>
              <a:t>claiming who you are and proving it."</a:t>
            </a:r>
          </a:p>
          <a:p/>
          <a:p>
            <a:r>
              <a:t>THEN CLOSE THE LOOP HONESTLY, before they ask:</a:t>
            </a:r>
          </a:p>
          <a:p>
            <a:r>
              <a:t>"The cloud connection is still unencrypted - the access token crosses in plain</a:t>
            </a:r>
          </a:p>
          <a:p>
            <a:r>
              <a:t>text. That is the most serious weakness left, and the fix is TLS on port 8883."</a:t>
            </a:r>
          </a:p>
          <a:p/>
          <a:p>
            <a:r>
              <a:t>THE RULE UNDERNEATH IT: you cannot authenticate using a value the attacker</a:t>
            </a:r>
          </a:p>
          <a:p>
            <a:r>
              <a:t>supplies. That is the whole lesson and it generalises far beyond this project.</a:t>
            </a:r>
          </a:p>
          <a:p/>
          <a:p>
            <a:r>
              <a:t>WHAT THE ATTACK ACTUALLY DID: not a wrong temperature on a dashboard. A forged</a:t>
            </a:r>
          </a:p>
          <a:p>
            <a:r>
              <a:t>packet carrying a very high sequence number advances the duplicate-detection</a:t>
            </a:r>
          </a:p>
          <a:p>
            <a:r>
              <a:t>baseline, and after that every genuine packet from the real sensor is rejected</a:t>
            </a:r>
          </a:p>
          <a:p>
            <a:r>
              <a:t>as a duplicate until the board reboots. One forged frame silences the real</a:t>
            </a:r>
          </a:p>
          <a:p>
            <a:r>
              <a:t>sensor. It is a denial of service delivered through the integrity mechanism</a:t>
            </a:r>
          </a:p>
          <a:p>
            <a:r>
              <a:t>itself.</a:t>
            </a:r>
          </a:p>
          <a:p/>
          <a:p>
            <a:r>
              <a:t>BACKUP: a primary master key protects the per-peer key during setup; the</a:t>
            </a:r>
          </a:p>
          <a:p>
            <a:r>
              <a:t>per-peer key encrypts the payload. The receiver also needs a peer entry, or the</a:t>
            </a:r>
          </a:p>
          <a:p>
            <a:r>
              <a:t>driver discards the frame before any application code runs - a silent failure</a:t>
            </a:r>
          </a:p>
          <a:p>
            <a:r>
              <a:t>with no error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s.</a:t>
            </a:r>
          </a:p>
          <a:p/>
          <a:p>
            <a:r>
              <a:t>SAY: "634 messages received and validated. 82 repeats caught and rejected. Zero</a:t>
            </a:r>
          </a:p>
          <a:p>
            <a:r>
              <a:t>corrupted - both boards agree on the format. Fourteen out of fourteen acceptance</a:t>
            </a:r>
          </a:p>
          <a:p>
            <a:r>
              <a:t>criteria evidenced."</a:t>
            </a:r>
          </a:p>
          <a:p/>
          <a:p>
            <a:r>
              <a:t>ON THE OFFLINE BEHAVIOUR: "When the node goes quiet we keep publishing its last</a:t>
            </a:r>
          </a:p>
          <a:p>
            <a:r>
              <a:t>known temperature, so the chart stays continuous - but a separate flag says the</a:t>
            </a:r>
          </a:p>
          <a:p>
            <a:r>
              <a:t>data is stale. We do not put 'unknown' in the data field. We put it in a status</a:t>
            </a:r>
          </a:p>
          <a:p>
            <a:r>
              <a:t>field."</a:t>
            </a:r>
          </a:p>
          <a:p/>
          <a:p>
            <a:r>
              <a:t>That is a design decision worth defending if asked: nobody is misled, and the</a:t>
            </a:r>
          </a:p>
          <a:p>
            <a:r>
              <a:t>chart stays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 s.</a:t>
            </a:r>
          </a:p>
          <a:p/>
          <a:p>
            <a:r>
              <a:t>SAY: "Two physically separate sensors appear in the cloud as one device and one</a:t>
            </a:r>
          </a:p>
          <a:p>
            <a:r>
              <a:t>data stream, because the merge happens on Board 2 before anything leaves the</a:t>
            </a:r>
          </a:p>
          <a:p>
            <a:r>
              <a:t>building. Blue is the gateway's own sensor. Green is the remote node, arriving</a:t>
            </a:r>
          </a:p>
          <a:p>
            <a:r>
              <a:t>by radio."</a:t>
            </a:r>
          </a:p>
          <a:p/>
          <a:p>
            <a:r>
              <a:t>WHY MERGE AT THE EDGE: less traffic, less power, and the cloud does not have to</a:t>
            </a:r>
          </a:p>
          <a:p>
            <a:r>
              <a:t>correlate two separate streams. Two 26-byte frames every five seconds become one</a:t>
            </a:r>
          </a:p>
          <a:p>
            <a:r>
              <a:t>publish every ten. And the remote node needs no cloud credentials at all.</a:t>
            </a:r>
          </a:p>
          <a:p/>
          <a:p>
            <a:r>
              <a:t>IF THE TRACE LOOKS STEPPED: that is the DHT11's one-degree resolution, not a</a:t>
            </a:r>
          </a:p>
          <a:p>
            <a:r>
              <a:t>frozen sensor. Say it before they wonder.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Most of the marks are here. Stop presenting, start operating,</a:t>
            </a:r>
          </a:p>
          <a:p>
            <a:r>
              <a:t>and keep talking while you do it.</a:t>
            </a:r>
          </a:p>
          <a:p/>
          <a:p>
            <a:r>
              <a:t>BEFORE YOU BEGIN: three windows visible at once - Board 1 serial, Board 2</a:t>
            </a:r>
          </a:p>
          <a:p>
            <a:r>
              <a:t>serial, ThingsBoard. The argument only lands if all three are on screen.</a:t>
            </a:r>
          </a:p>
          <a:p/>
          <a:p>
            <a:r>
              <a:t>1. BOTH TERMINALS</a:t>
            </a:r>
          </a:p>
          <a:p>
            <a:r>
              <a:t>   "Left is Board 1 sending. Right is Board 2 receiving. Same sequence number,</a:t>
            </a:r>
          </a:p>
          <a:p>
            <a:r>
              <a:t>   one millisecond apart."</a:t>
            </a:r>
          </a:p>
          <a:p>
            <a:r>
              <a:t>   If pressed on why that matters: the acknowledgement is from the receiving</a:t>
            </a:r>
          </a:p>
          <a:p>
            <a:r>
              <a:t>   radio, not the application. It proves the bytes arrived, not that they were</a:t>
            </a:r>
          </a:p>
          <a:p>
            <a:r>
              <a:t>   accepted. The arrival line on the other board proves acceptance. Together</a:t>
            </a:r>
          </a:p>
          <a:p>
            <a:r>
              <a:t>   they prove both - which one port alone cannot.</a:t>
            </a:r>
          </a:p>
          <a:p/>
          <a:p>
            <a:r>
              <a:t>2. THUMB ON THE SENSOR</a:t>
            </a:r>
          </a:p>
          <a:p>
            <a:r>
              <a:t>   "Watch the temperature climb."</a:t>
            </a:r>
          </a:p>
          <a:p>
            <a:r>
              <a:t>   WAIT. Let them see it move. This proves the entire chain - sensor, radio,</a:t>
            </a:r>
          </a:p>
          <a:p>
            <a:r>
              <a:t>   gateway, internet, dashboard - in about fifteen seconds. It is the single</a:t>
            </a:r>
          </a:p>
          <a:p>
            <a:r>
              <a:t>   most convincing thing you can do.</a:t>
            </a:r>
          </a:p>
          <a:p/>
          <a:p>
            <a:r>
              <a:t>3. PRESS "FAST PUBLISH (2 s)"</a:t>
            </a:r>
          </a:p>
          <a:p>
            <a:r>
              <a:t>   "That button sends an instruction from the cloud down to the device. It</a:t>
            </a:r>
          </a:p>
          <a:p>
            <a:r>
              <a:t>   changes how often it reports - from ten seconds to two."</a:t>
            </a:r>
          </a:p>
          <a:p>
            <a:r>
              <a:t>   Then show the value returning: "And there is the device confirming it. Not</a:t>
            </a:r>
          </a:p>
          <a:p>
            <a:r>
              <a:t>   just that we sent it - that it arrived and took effect."</a:t>
            </a:r>
          </a:p>
          <a:p/>
          <a:p>
            <a:r>
              <a:t>4. UNPLUG BOARD 1 - keep talking, do not stand in silence</a:t>
            </a:r>
          </a:p>
          <a:p>
            <a:r>
              <a:t>   "The gateway keeps publishing its own reading. Give it twenty seconds and it</a:t>
            </a:r>
          </a:p>
          <a:p>
            <a:r>
              <a:t>   will mark the other board offline - but it keeps showing the last known</a:t>
            </a:r>
          </a:p>
          <a:p>
            <a:r>
              <a:t>   temperature so the chart does not gap. The status flag carries the truth</a:t>
            </a:r>
          </a:p>
          <a:p>
            <a:r>
              <a:t>   about freshness."</a:t>
            </a:r>
          </a:p>
          <a:p/>
          <a:p>
            <a:r>
              <a:t>5. PLUG IT BACK IN</a:t>
            </a:r>
          </a:p>
          <a:p>
            <a:r>
              <a:t>   "New random ID, numbering restarts, accepted cleanly. No flood of rejected</a:t>
            </a:r>
          </a:p>
          <a:p>
            <a:r>
              <a:t>   duplicates."</a:t>
            </a:r>
          </a:p>
          <a:p/>
          <a:p>
            <a:r>
              <a:t>IF THE LINK IS DEAD: it is the channel. Read it off Board 2's boot banner, put</a:t>
            </a:r>
          </a:p>
          <a:p>
            <a:r>
              <a:t>it in sketch 04, re-upload to Board 1. Two minutes. Do not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s.</a:t>
            </a:r>
          </a:p>
          <a:p/>
          <a:p>
            <a:r>
              <a:t>SAY: "The brief specified a BMP280. The hardware available was a DHT11. That</a:t>
            </a:r>
          </a:p>
          <a:p>
            <a:r>
              <a:t>changes what we measure - humidity instead of pressure - but not the</a:t>
            </a:r>
          </a:p>
          <a:p>
            <a:r>
              <a:t>architecture we are demonstrating. It is documented in the report rather than</a:t>
            </a:r>
          </a:p>
          <a:p>
            <a:r>
              <a:t>glossed over."</a:t>
            </a:r>
          </a:p>
          <a:p/>
          <a:p>
            <a:r>
              <a:t>Owning a substitution is stronger than hoping nobody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s. Name your own limits. It reads as maturity, not weakness.</a:t>
            </a:r>
          </a:p>
          <a:p/>
          <a:p>
            <a:r>
              <a:t>SAY: "One hop only - two radios cannot demonstrate forwarding. The cloud</a:t>
            </a:r>
          </a:p>
          <a:p>
            <a:r>
              <a:t>connection is not encrypted, so the access token crosses in clear text.</a:t>
            </a:r>
          </a:p>
          <a:p>
            <a:r>
              <a:t>Credentials are compiled into the firmware and recoverable over USB. And the</a:t>
            </a:r>
          </a:p>
          <a:p>
            <a:r>
              <a:t>channel is set by hand, so a Wi-Fi roam breaks the link silently."</a:t>
            </a:r>
          </a:p>
          <a:p/>
          <a:p>
            <a:r>
              <a:t>DO NOT list ESP-NOW encryption as a limitation. It is implemented - a primary</a:t>
            </a:r>
          </a:p>
          <a:p>
            <a:r>
              <a:t>master key plus a per-peer key, and the receiver authenticates the sender. That</a:t>
            </a:r>
          </a:p>
          <a:p>
            <a:r>
              <a:t>is a feature you built, not a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s.</a:t>
            </a:r>
          </a:p>
          <a:p/>
          <a:p>
            <a:r>
              <a:t>SAY: "We tested the assumptions rather than trusting them. Port 1883 is open</a:t>
            </a:r>
          </a:p>
          <a:p>
            <a:r>
              <a:t>outbound on eduroam - we verified that rather than assuming it. The realm for</a:t>
            </a:r>
          </a:p>
          <a:p>
            <a:r>
              <a:t>authentication turned out to be the university domain, not the student mail</a:t>
            </a:r>
          </a:p>
          <a:p>
            <a:r>
              <a:t>domain, and enterprise Wi-Fi gives you no error that distinguishes a wrong</a:t>
            </a:r>
          </a:p>
          <a:p>
            <a:r>
              <a:t>username from a wrong password or being out of range. We found it by changing</a:t>
            </a:r>
          </a:p>
          <a:p>
            <a:r>
              <a:t>one thing at a time."</a:t>
            </a:r>
          </a:p>
          <a:p/>
          <a:p>
            <a:r>
              <a:t>That story answers "what was the hardest part" before it is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s.</a:t>
            </a:r>
          </a:p>
          <a:p/>
          <a:p>
            <a:r>
              <a:t>SAY: "Next steps, in order of value: a third board so the forwarding fields are</a:t>
            </a:r>
          </a:p>
          <a:p>
            <a:r>
              <a:t>actually exercised. TLS on the cloud leg, which is the most serious remaining</a:t>
            </a:r>
          </a:p>
          <a:p>
            <a:r>
              <a:t>exposure. Credentials provisioned at first boot rather than compiled in. And the</a:t>
            </a:r>
          </a:p>
          <a:p>
            <a:r>
              <a:t>node scanning for the gateway instead of being told the channel by hand - that</a:t>
            </a:r>
          </a:p>
          <a:p>
            <a:r>
              <a:t>would have prevented three outages during development."</a:t>
            </a:r>
          </a:p>
          <a:p/>
          <a:p>
            <a:r>
              <a:t>Each item maps to a limitation on the previous slide. That symmetry is</a:t>
            </a:r>
          </a:p>
          <a:p>
            <a:r>
              <a:t>deliberate - show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 - 5 minutes.</a:t>
            </a:r>
          </a:p>
          <a:p/>
          <a:p>
            <a:r>
              <a:t>"HOW DOES IT WORK?" - One board measures and radios it across. The other adds</a:t>
            </a:r>
          </a:p>
          <a:p>
            <a:r>
              <a:t>its own reading and sends both to the cloud.</a:t>
            </a:r>
          </a:p>
          <a:p/>
          <a:p>
            <a:r>
              <a:t>"WHY NOT WI-FI ON BOTH?" - Both would need credentials, setup and battery to</a:t>
            </a:r>
          </a:p>
          <a:p>
            <a:r>
              <a:t>join. One gateway carrying several nodes scales better.</a:t>
            </a:r>
          </a:p>
          <a:p/>
          <a:p>
            <a:r>
              <a:t>"IS IT SECURE?" - The radio link is: encrypted, keys on both ends, and the</a:t>
            </a:r>
          </a:p>
          <a:p>
            <a:r>
              <a:t>receiver rejects anything that does not decrypt. The cloud link is not. That is</a:t>
            </a:r>
          </a:p>
          <a:p>
            <a:r>
              <a:t>the honest gap.</a:t>
            </a:r>
          </a:p>
          <a:p/>
          <a:p>
            <a:r>
              <a:t>"IS IT A MESH?" - Mesh-ready. Two radios can only do one hop. The format carries</a:t>
            </a:r>
          </a:p>
          <a:p>
            <a:r>
              <a:t>a hop counter; we simply never forward.</a:t>
            </a:r>
          </a:p>
          <a:p/>
          <a:p>
            <a:r>
              <a:t>"WHY QoS 0?" - Telemetry every ten seconds. A lost sample is superseded ten</a:t>
            </a:r>
          </a:p>
          <a:p>
            <a:r>
              <a:t>seconds later. QoS 1 costs round trips and a queue for data with a very short</a:t>
            </a:r>
          </a:p>
          <a:p>
            <a:r>
              <a:t>shelf life.</a:t>
            </a:r>
          </a:p>
          <a:p/>
          <a:p>
            <a:r>
              <a:t>"ISN'T THE ACKNOWLEDGEMENT PROOF ENOUGH?" - No. It comes from the radio, not the</a:t>
            </a:r>
          </a:p>
          <a:p>
            <a:r>
              <a:t>application. It proves the bytes arrived, not that they were accepted. That is</a:t>
            </a:r>
          </a:p>
          <a:p>
            <a:r>
              <a:t>why we captured both boards against one clock.</a:t>
            </a:r>
          </a:p>
          <a:p/>
          <a:p>
            <a:r>
              <a:t>"WHAT WAS THE HARDEST PART?" - Not the code, the campus network. Enterprise</a:t>
            </a:r>
          </a:p>
          <a:p>
            <a:r>
              <a:t>Wi-Fi gives no useful error, so a wrong username looks identical to a wrong</a:t>
            </a:r>
          </a:p>
          <a:p>
            <a:r>
              <a:t>password or being out of range.</a:t>
            </a:r>
          </a:p>
          <a:p/>
          <a:p>
            <a:r>
              <a:t>"WHY DHT11?" - It is what was available. It changes what we measure, not the</a:t>
            </a:r>
          </a:p>
          <a:p>
            <a:r>
              <a:t>architecture.</a:t>
            </a:r>
          </a:p>
          <a:p/>
          <a:p>
            <a:r>
              <a:t>IF YOU DO NOT KNOW: "I don't know off the top of my head - it is in the report</a:t>
            </a:r>
          </a:p>
          <a:p>
            <a:r>
              <a:t>and I can check." That costs almost nothing. Guessing and being wrong costs a</a:t>
            </a:r>
          </a:p>
          <a:p>
            <a:r>
              <a:t>great deal.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 s. The circuit diagram answers a different question from the block</a:t>
            </a:r>
          </a:p>
          <a:p>
            <a:r>
              <a:t>diagram: block is what moves, circuit is which pin connects to which.</a:t>
            </a:r>
          </a:p>
          <a:p/>
          <a:p>
            <a:r>
              <a:t>SAY: "Three wires per board - power, ground, and data. Identical on both boards</a:t>
            </a:r>
          </a:p>
          <a:p>
            <a:r>
              <a:t>apart from which pin the data goes into: GPIO4 on one, GPIO5 on the other.</a:t>
            </a:r>
          </a:p>
          <a:p>
            <a:r>
              <a:t>Notice there is no wire between the two boards. Separate USB supplies, separate</a:t>
            </a:r>
          </a:p>
          <a:p>
            <a:r>
              <a:t>grounds. Nothing crosses between them except radio."</a:t>
            </a:r>
          </a:p>
          <a:p/>
          <a:p>
            <a:r>
              <a:t>WHY THE PINS DIFFER: they were wired at different times and nothing required</a:t>
            </a:r>
          </a:p>
          <a:p>
            <a:r>
              <a:t>them to match. That is the honest answer - do not invent a reason.</a:t>
            </a:r>
          </a:p>
          <a:p/>
          <a:p>
            <a:r>
              <a:t>IF ASKED where the pull-up resistor is: "These are three-pin breakout modules -</a:t>
            </a:r>
          </a:p>
          <a:p>
            <a:r>
              <a:t>the resistor is already on the module. A bare DHT11 would need about 10 k on the</a:t>
            </a:r>
          </a:p>
          <a:p>
            <a:r>
              <a:t>data line."</a:t>
            </a:r>
          </a:p>
          <a:p/>
          <a:p>
            <a:r>
              <a:t>IF ASKED about the dashed line: that is ESP-NOW, encrypted with a shared key</a:t>
            </a:r>
          </a:p>
          <a:p>
            <a:r>
              <a:t>pair. It is drawn dashed precisely because it is not a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 s.</a:t>
            </a:r>
          </a:p>
          <a:p/>
          <a:p>
            <a:r>
              <a:t>SAY: "Telemetry alone makes a device observable. It does not make it</a:t>
            </a:r>
          </a:p>
          <a:p>
            <a:r>
              <a:t>manageable. These three buttons send commands from the cloud down to the</a:t>
            </a:r>
          </a:p>
          <a:p>
            <a:r>
              <a:t>device - change how often it reports, reset its counters, ask for its status."</a:t>
            </a:r>
          </a:p>
          <a:p/>
          <a:p>
            <a:r>
              <a:t>THE KEY POINT: "And the device reports the change back in its own telemetry. So</a:t>
            </a:r>
          </a:p>
          <a:p>
            <a:r>
              <a:t>we are not just seeing that the command was sent - we are seeing that it</a:t>
            </a:r>
          </a:p>
          <a:p>
            <a:r>
              <a:t>arrived and took effect. The round trip is confirmed at both ends."</a:t>
            </a:r>
          </a:p>
          <a:p/>
          <a:p>
            <a:r>
              <a:t>ON VALIDATION: out-of-range values are refused rather than quietly adjusted.</a:t>
            </a:r>
          </a:p>
          <a:p>
            <a:r>
              <a:t>Silently applying something different from what was asked would leave the</a:t>
            </a:r>
          </a:p>
          <a:p>
            <a:r>
              <a:t>operator believing something untrue about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9509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300" b="1">
                <a:solidFill>
                  <a:srgbClr val="0B6B62"/>
                </a:solidFill>
                <a:latin typeface="Calibri"/>
              </a:defRPr>
            </a:pPr>
            <a:r>
              <a:t>IA736001 INTERNET OF THINGS AND CLOUD COMPUTING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4000" b="1">
                <a:solidFill>
                  <a:srgbClr val="1A1A1A"/>
                </a:solidFill>
                <a:latin typeface="Calibri"/>
              </a:defRPr>
            </a:pPr>
            <a:r>
              <a:t>Two-Node ESP-NOW Sensor Network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4000" b="1">
                <a:solidFill>
                  <a:srgbClr val="606060"/>
                </a:solidFill>
                <a:latin typeface="Calibri"/>
              </a:defRPr>
            </a:pPr>
            <a:r>
              <a:t>with a ThingsBoard Cloud Gateway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A mesh-ready packet design demonstrated over a single hop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500" b="0">
                <a:solidFill>
                  <a:srgbClr val="606060"/>
                </a:solidFill>
                <a:latin typeface="Calibri"/>
              </a:defRPr>
            </a:pPr>
            <a:r>
              <a:t>Bhanu Gupta  ·  Roshan Aryal     |     9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WHY THIS EXISTS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2200" b="0">
                <a:solidFill>
                  <a:srgbClr val="1A1A1A"/>
                </a:solidFill>
                <a:latin typeface="Calibri"/>
              </a:defRPr>
            </a:pPr>
            <a:r>
              <a:t>A sensor is somewhere without Wi-Fi coverage, mains power, or both.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Wi-Fi association costs seconds and milliamps before a single byte moves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Every node needing its own AP credentials does not scale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One connected gateway can carry data for several local nodes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So: cheap radio between the nodes, one gateway that owns the cloud link.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SCOPE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93144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2000" b="1">
                <a:solidFill>
                  <a:srgbClr val="0B6B62"/>
                </a:solidFill>
                <a:latin typeface="Calibri"/>
              </a:defRPr>
            </a:pPr>
            <a:r>
              <a:t>Board 1  -  Remote node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DHT11 on GPIO4. Reads and transmits every 5 s over ESP-NOW. Never joins the access point.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2000" b="1">
                <a:solidFill>
                  <a:srgbClr val="0B6B62"/>
                </a:solidFill>
                <a:latin typeface="Calibri"/>
              </a:defRPr>
            </a:pPr>
            <a:r>
              <a:t>Board 2  -  Gateway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DHT11 on GPIO5. Joins eduroam, receives and deduplicates Board 1's packets, merges both readings, publishes to ThingsBoard over MQTT every 10 s.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No wire between the two boards. The only link is a 2.4 GHz radio.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500" b="0">
                <a:solidFill>
                  <a:srgbClr val="A83A1F"/>
                </a:solidFill>
                <a:latin typeface="Calibri"/>
              </a:defRPr>
            </a:pPr>
            <a:r>
              <a:t>Two-node prototype with a mesh-ready packet design - not a demonstrated multi-hop mesh. Two radios can only ever be one hop.</a:t>
            </a:r>
          </a:p>
        </p:txBody>
      </p:sp>
      <p:pic>
        <p:nvPicPr>
          <p:cNvPr id="5" name="Picture 4" descr="photo_01_both_boards_no_wir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3008" y="1783080"/>
            <a:ext cx="356586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NETWORKING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036" y="1783080"/>
            <a:ext cx="8070878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WIRING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Circuit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circui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2465" y="1783080"/>
            <a:ext cx="7704021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THE GOVERNING CONSTRAINT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One radio, one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2100" b="0">
                <a:solidFill>
                  <a:srgbClr val="1A1A1A"/>
                </a:solidFill>
                <a:latin typeface="Calibri"/>
              </a:defRPr>
            </a:pPr>
            <a:r>
              <a:t>An ESP32 has a single radio, so it is on exactly one channel at a time.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The gateway must join Wi-Fi for the cloud - and the access point decides which channel that is.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2100" b="1">
                <a:solidFill>
                  <a:srgbClr val="0B6B62"/>
                </a:solidFill>
                <a:latin typeface="Calibri"/>
              </a:defRPr>
            </a:pPr>
            <a:r>
              <a:t>So the channel is discovered at runtime, never chosen at design time.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The node is pinned to that channel by hand, and reads it back to confirm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The node never associates - association would let the two boards drift apart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Gateway must be flashed and running before the node can even be configured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26 BYTES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Packet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version, msg_type      protocol evolution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src_id, dst_id         addressing, not broadcast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boot_id                random per power-up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seq                    ordering within a session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ttl, hop_count         carried, never decremented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temperature, humidity  the payload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uptime_ms              sender liveness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Why no checksum?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802.11 already CRC-checks every delivered frame. A checksum would duplicate hardware work - and would not authenticate anything.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static_assert(sizeof == 26)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500" b="0">
                <a:solidFill>
                  <a:srgbClr val="606060"/>
                </a:solidFill>
                <a:latin typeface="Calibri"/>
              </a:defRPr>
            </a:pPr>
            <a:r>
              <a:t>Pins the size in both sketches. It constrains layout but does not prove field agreement - fields could be reordered and still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SOFTWARE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Deduplication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Key:   (src_id, boot_id, seq)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Strict last-sequence-wins. Anything not newer than the highest already accepted in this session is a duplicate.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boot_id is randomised every power-up.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Without it, a node restart looks identical to a replay: every packet arrives with a sequence below the stored baseline and is rejected forever. The node never comes back.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A forward jump is a gap, not a duplicate - those packets were lost, not repeated. A receiver demanding contiguous sequences would deadlock on the first loss.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THREAT MODEL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Defended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Length, version, type, addressing, range validation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Replay rejection via sequence numbers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ESP-NOW encryption + sender auth - PMK + per-peer LMK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Sender MAC filtering (defence in depth)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Credentials excluded from version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A83A1F"/>
                </a:solidFill>
                <a:latin typeface="Calibri"/>
              </a:defRPr>
            </a:pPr>
            <a:r>
              <a:t>Not defended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MQTT without TLS - token in clear text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RADIUS certificate not validated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Credentials readable from flash over USB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9509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700" b="1">
                <a:solidFill>
                  <a:srgbClr val="A83A1F"/>
                </a:solidFill>
                <a:latin typeface="Calibri"/>
              </a:defRPr>
            </a:pPr>
            <a:r>
              <a:t>The interesting finding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src_id is a claim, not proof. A forged packet with a high sequence number under the live boot_id advances the dedup baseline - after which every genuine packet is rejected until the node reboots. Replay protection becomes the attack surface. Fixed by encrypting the link: a MAC filter was not enough, because the attacker controls the value being filtered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MEASURED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9509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634        packets received and validated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82        duplicates rejected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0        invalid packets - both boards agree on the 26-byte layout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14 / 14        acceptance criteria evidenced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606060"/>
                </a:solidFill>
                <a:latin typeface="Calibri"/>
              </a:defRPr>
            </a:pPr>
            <a:r>
              <a:t>Node offline detection latches at 20 s; last known value keeps publishing while node1_online carries the truth about freshness.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CLOUD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Edge aggregation, visualised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shboard_01_temperature_both_boards.jpg"/>
          <p:cNvPicPr>
            <a:picLocks noChangeAspect="1"/>
          </p:cNvPicPr>
          <p:nvPr/>
        </p:nvPicPr>
        <p:blipFill>
          <a:blip r:embed="rId3"/>
          <a:srcRect b="7500"/>
          <a:stretch>
            <a:fillRect/>
          </a:stretch>
        </p:blipFill>
        <p:spPr>
          <a:xfrm>
            <a:off x="1662989" y="1755648"/>
            <a:ext cx="8862972" cy="47823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606060"/>
                </a:solidFill>
                <a:latin typeface="Calibri"/>
              </a:defRPr>
            </a:pPr>
            <a:r>
              <a:t>Blue: gateway local sensor.    Green: remote node, via ESP-NOW.    Stepped traces are DHT11 quantisation, not a frozen sensor.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BOTH DIRECTIONS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Control and resilience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/>
          </a:p>
          <a:p>
            <a:pPr algn="ctr"/>
          </a:p>
          <a:p>
            <a:pPr algn="ctr"/>
          </a:p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Telemetry alone makes a device observable. It does not make it manageable.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The gateway subscribes to v1/devices/me/rpc/request/+ and replies on the matching response topic. Three methods: getStatus, setPublishInterval, resetCounters.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Verified end to end - a dashboard button produced the request in the gateway log, the applied change, and the new interval back in the next telemetry message. The round trip, not just the request.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setPublishInterval range-checks and rejects rather than clamping. Silently applying a value the operator did not ask for would leave them believing something untrue about the device.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Unsent payloads go to a twelve-slot ring buffer and flush oldest-first on reconnect. Measured: 4 buffered, 4 flushed, 0 dropped.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SWITCH TO HARDWARE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Live 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1.   Board 1 serial:  no Wi-Fi association, and a real link-layer ack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2.   Board 2 serial:  the same packet arriving, validated, deduplicated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3.   ThingsBoard:  the same numbers, in the cloud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4.   Warm the sensor by hand and watch the chart move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5.   Unplug Board 1:  node1_online goes false after 20 s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606060"/>
                </a:solidFill>
                <a:latin typeface="Calibri"/>
              </a:defRPr>
            </a:pPr>
            <a:r>
              <a:t>Roughly 21 C to 28 C in fifteen seconds - it proves the whole chain, sensor to cloud, in one gesture.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HARDWARE SUBSTITUTION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DHT11 instead of BMP280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2000" b="0">
                <a:solidFill>
                  <a:srgbClr val="1A1A1A"/>
                </a:solidFill>
                <a:latin typeface="Calibri"/>
              </a:defRPr>
            </a:pPr>
            <a:r>
              <a:t>The brief specified BMP280. The available hardware was DHT11.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1">
                <a:solidFill>
                  <a:srgbClr val="A83A1F"/>
                </a:solidFill>
                <a:latin typeface="Calibri"/>
              </a:defRPr>
            </a:pPr>
            <a:r>
              <a:t>Lost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No I2C experience - DHT11 is single-wire bit-banged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Lower resolution, hence the stepped chart traces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1">
                <a:solidFill>
                  <a:srgbClr val="0B6B62"/>
                </a:solidFill>
                <a:latin typeface="Calibri"/>
              </a:defRPr>
            </a:pPr>
            <a:r>
              <a:t>Gained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Humidity responds to a hand in seconds; indoor pressure would be flat for hours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Everything above the sensing layer is unchanged - the packet carries two floats and does not care what they represent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HONESTLY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One hop only - two radios cannot demonstrate multi-hop forwarding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ttl and hop_count are designed for but unexercised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MQTT without TLS - the radio leg is encrypted, the cloud leg is not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Credentials compiled into firmware, recoverable over USB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Manual channel configuration - a gateway roam silently breaks the link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Single remote node - dedup state is one slot, not an array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MEASURED, NOT ASSUMED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Port 1883 is open outbound on eduroam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Proved by the MQTT return code: state=5 is a reply from the broker, so the packets crossed the firewall. state=-2 would have meant no TCP connection at all.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WPA2-Enterprise costs ~97 KB of flash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915,267 bytes with PSK against 1,012,651 with PEAP. Enterprise auth is not free.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eduroam routes by RADIUS realm, not email domain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user@student.&lt;institution&gt; failed; user@&lt;institution&gt; worked. The failure is silent - the same status code as a wrong password.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WHAT WOULD COME NEXT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Further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509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1.   A third node - actually exercise ttl and hop_count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2.   MQTT over TLS on port 8883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3.   Credentials provisioned into NVS at first boot, not compiled in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4.   Automatic channel recovery instead of a manual re-upload</a:t>
            </a:r>
          </a:p>
          <a:p>
            <a:pPr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5.   Persist the buffer to NVS so it survives a reboot, not just a reconnect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9509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8000"/>
              </a:lnSpc>
              <a:spcAft>
                <a:spcPts val="1100"/>
              </a:spcAft>
              <a:defRPr sz="4400" b="1">
                <a:solidFill>
                  <a:srgbClr val="1A1A1A"/>
                </a:solidFill>
                <a:latin typeface="Calibri"/>
              </a:defRPr>
            </a:pPr>
            <a:r>
              <a:t>Questions</a:t>
            </a:r>
          </a:p>
          <a:p>
            <a:pPr algn="ctr">
              <a:lnSpc>
                <a:spcPct val="118000"/>
              </a:lnSpc>
              <a:spcAft>
                <a:spcPts val="1100"/>
              </a:spcAft>
              <a:defRPr sz="1900" b="0">
                <a:solidFill>
                  <a:srgbClr val="606060"/>
                </a:solidFill>
                <a:latin typeface="Calibri"/>
              </a:defRPr>
            </a:pPr>
            <a:r>
              <a:t>Two ESP32 boards.  No wire between them.  Two sensors, one cloud stream.</a:t>
            </a:r>
          </a:p>
          <a:p>
            <a:pPr algn="ctr">
              <a:lnSpc>
                <a:spcPct val="118000"/>
              </a:lnSpc>
              <a:spcAft>
                <a:spcPts val="1100"/>
              </a:spcAft>
              <a:defRPr sz="1400" b="0">
                <a:solidFill>
                  <a:srgbClr val="606060"/>
                </a:solidFill>
                <a:latin typeface="Calibri"/>
              </a:defRPr>
            </a:pPr>
            <a:r>
              <a:t>Code, evidence and full report:  github.com/bhanuGupta1/esp32-espnow-thingsboard-gateway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